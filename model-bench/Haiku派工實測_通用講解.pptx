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固定前綴（千 token）</c:v>
                </c:pt>
              </c:strCache>
            </c:strRef>
          </c:tx>
          <c:spPr>
            <a:solidFill>
              <a:srgbClr val="3E7CAB"/>
            </a:solidFill>
          </c:spPr>
          <c:cat>
            <c:strRef>
              <c:f>Sheet1!$A$2:$A$4</c:f>
              <c:strCache>
                <c:ptCount val="3"/>
                <c:pt idx="0">
                  <c:v>雲端乾淨環境</c:v>
                </c:pt>
                <c:pt idx="1">
                  <c:v>本機・命令列</c:v>
                </c:pt>
                <c:pt idx="2">
                  <c:v>本機・Agent 工具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62</c:v>
                </c:pt>
                <c:pt idx="2">
                  <c:v>65</c:v>
                </c:pt>
              </c:numCache>
            </c:numRef>
          </c:val>
        </c:ser>
        <c:dLbls>
          <c:numFmt formatCode="0&quot;k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Microsoft JhengHei"/>
          <a:ea typeface="Microsoft JhengHei"/>
          <a:cs typeface="Microsoft Jheng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Haiku 中等</c:v>
                </c:pt>
              </c:strCache>
            </c:strRef>
          </c:tx>
          <c:spPr>
            <a:solidFill>
              <a:srgbClr val="3E7CAB"/>
            </a:solidFill>
          </c:spPr>
          <c:cat>
            <c:strRef>
              <c:f>Sheet1!$A$2:$A$3</c:f>
              <c:strCache>
                <c:ptCount val="2"/>
                <c:pt idx="0">
                  <c:v>雲端（第二輪）</c:v>
                </c:pt>
                <c:pt idx="1">
                  <c:v>本機（第三輪）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0.0043</c:v>
                </c:pt>
                <c:pt idx="1">
                  <c:v>0.019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Sonnet 低</c:v>
                </c:pt>
              </c:strCache>
            </c:strRef>
          </c:tx>
          <c:spPr>
            <a:solidFill>
              <a:srgbClr val="A3720A"/>
            </a:solidFill>
          </c:spPr>
          <c:cat>
            <c:strRef>
              <c:f>Sheet1!$A$2:$A$3</c:f>
              <c:strCache>
                <c:ptCount val="2"/>
                <c:pt idx="0">
                  <c:v>雲端（第二輪）</c:v>
                </c:pt>
                <c:pt idx="1">
                  <c:v>本機（第三輪）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0.0771</c:v>
                </c:pt>
                <c:pt idx="1">
                  <c:v>0.175</c:v>
                </c:pt>
              </c:numCache>
            </c:numRef>
          </c:val>
        </c:ser>
        <c:dLbls>
          <c:numFmt formatCode="&quot;$&quot;0.0###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E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300">
          <a:latin typeface="Microsoft JhengHei"/>
          <a:ea typeface="Microsoft JhengHei"/>
          <a:cs typeface="Microsoft Jheng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份簡報是給想把工作分給「比較便宜的模型」的人看的入門說明，不是測試報告。內容整理自三輪實測：兩輪在雲端乾淨環境、一輪在作者自己的電腦上。數字都來自實測紀錄，但每格只跑三次左右，請把它當成「目前看來」而不是定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 這類工具可以讓主模型開子代理（subagent）去做小任務。很多人的派工表是憑感覺寫的：摘要給便宜模型、寫程式給中間層。這次想回答的問題很單純：每一種任務，便宜的 Haiku 到底接不接得住？接得住就省錢，接不住就留給 Sonnet。單價是本輪實測時記錄的價目，之後可能會變。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共十二題，每題對應派工表的一列。重點是門檻只判能機械判定的部分：例如翻譯題只檢查格式與佔位符，不判譯文好不好。這是刻意的取捨——用另一個模型當評審，評審本身也會出錯，結果就無法重複。每個門檻都準備了正反兩組對照，確認它該擋的會擋、該放的會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思考強度（effort）是 Claude Code 可以設定的參數，越高代表模型想越久、花越多 token。為了公平，兩個模型要設成同一個 effort 才算對照，因為兩者的預設值不同。每一次呼叫都會記錄 token 組成與快取命中，這是後面成本分析的來源。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接下來五頁是結論。每一頁都是「目前看來」，請搭配最後一頁的限制一起看。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最意外的兩列：寫腳本和審查，原本都被認為要中間層，但只要有隱藏測試或引文核對，Haiku 每次都過。反過來，格式限制很多的題目，Sonnet 反而比較容易出錯——它會習慣性地多寫一點。唯一明確要留給 Sonnet 的是「把幾萬 token 的資料直接塞進題目，要它加總或計數」。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這是整份研究最實用的一條：不要一失敗就換貴的模型。搜尋盤點題的失誤全部是排序方式不同——Haiku 照人類習慣把第 7 行排在第 10 行前面，題目要求的是字典序。這種問題加一行排序就解決，花二十倍的錢升級反而浪費。長上下文計數就不一樣了，那是模型能力的邊界，提高思考強度也救不回來。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前綴是 Claude Code 每次呼叫都會帶上的內容：系統提示、工具說明、使用者設定檔。有快取時重讀很便宜，但仍然佔了不小的比例。本機前綴的組成大約是：基本框架 7.5k、工具說明 33k、個人設定檔約 9k、規則與開場注入約 10 到 13k。實際踩到的例子：一題把約 45k 的帳本直接放進題目，在本機加上前綴後超過 100k，自報成本是列價的 5 倍。做法是把大段資料寫成檔案，讓子代理自己去讀，而不是塞進題目。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每題平均成本：雲端 Haiku $0.0043、Sonnet $0.0771；本機 Haiku $0.019、Sonnet $0.175。第二輪在雲端看到 Haiku 調高思考強度後幾乎全過，所以一度建議預設改成高。第三輪在本機重跑，結果反過來：高強度反而少過兩題。差異都落在排序和長上下文計數那兩類，所以結論改成：思考強度不是那兩類問題的解法，便宜層維持中等即可。這也是為什麼要換環境再跑一次——單一輪的結論可能只是那一輪的運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這是第三輪在本機才發現的：某一版命令列把 haiku 這個別名解析成上一代的 Haiku 4.5，價格是 5.5 的十倍左右；寫完整的 5.5 名稱反而被當成不認識的模型，成本也報錯。更新命令列後就修正了。同一時間，桌面版的 Agent 工具一直是正確的 5.5，所以只有某一條派工路徑中招。教訓是：模型別名是一個要定期驗證的事實，不是約定俗成。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前面是發現，這一段是做法。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這五個問題就是整份研究濃縮後的派工習慣。第一題最常被忽略：五個兩秒的小任務分五次派，固定前綴就付五次。第二題是核心：能不能機械驗收，比任務聽起來難不難更重要。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完整說明在同一個資料夾的 README 與 DESIGN 文件。自我檢查會用正反兩組資料檢查每一題的門檻，任何一側失效都會直接報錯，這一步過了才開始真正跑模型。如果想比較自己電腦和乾淨環境的差異，工具也支援關掉個人設定的隔離模式。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如果之後有新一代模型、命令列大改版、或前綴又長了一截，這些結論都要重跑一次確認。目前看來方向是穩的：有硬門檻的工作先給便宜層，失敗先分類，大段資料不要塞進題目。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48840"/>
            <a:ext cx="1097280" cy="54864"/>
          </a:xfrm>
          <a:prstGeom prst="rect">
            <a:avLst/>
          </a:prstGeom>
          <a:solidFill>
            <a:srgbClr val="3E7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-title"/>
          <p:cNvSpPr txBox="1"/>
          <p:nvPr/>
        </p:nvSpPr>
        <p:spPr>
          <a:xfrm>
            <a:off x="548640" y="2377440"/>
            <a:ext cx="11094415" cy="10058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便宜的模型，能接多少工作？</a:t>
            </a:r>
          </a:p>
        </p:txBody>
      </p:sp>
      <p:sp>
        <p:nvSpPr>
          <p:cNvPr id="4" name="cover-sub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20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用一組有「機器門檻」的小題目，實際量出派工時該用哪一層模型</a:t>
            </a:r>
          </a:p>
        </p:txBody>
      </p:sp>
      <p:sp>
        <p:nvSpPr>
          <p:cNvPr id="5" name="cover-meta"/>
          <p:cNvSpPr txBox="1"/>
          <p:nvPr/>
        </p:nvSpPr>
        <p:spPr>
          <a:xfrm>
            <a:off x="548640" y="5394960"/>
            <a:ext cx="11094415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3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Haiku 5.5 派工實測・通用講解版　|　2026-10　|　三輪實測的整理，結論仍在累積中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為什麼要問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派工時，選哪一層模型是一個成本問題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主模型把工作切小、交給子代理去做；子代理用哪個模型，單價可以差到二十倍。</a:t>
            </a:r>
          </a:p>
        </p:txBody>
      </p:sp>
      <p:sp>
        <p:nvSpPr>
          <p:cNvPr id="5" name="flow-dispatch-bg1"/>
          <p:cNvSpPr/>
          <p:nvPr/>
        </p:nvSpPr>
        <p:spPr>
          <a:xfrm>
            <a:off x="548640" y="2010664"/>
            <a:ext cx="2499283" cy="141732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-dispatch1"/>
          <p:cNvSpPr txBox="1"/>
          <p:nvPr/>
        </p:nvSpPr>
        <p:spPr>
          <a:xfrm>
            <a:off x="658368" y="2102104"/>
            <a:ext cx="2279827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主模型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理解需求、拆工作、
做判斷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3643" y="2719324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dispatch-bg2"/>
          <p:cNvSpPr/>
          <p:nvPr/>
        </p:nvSpPr>
        <p:spPr>
          <a:xfrm>
            <a:off x="3413683" y="2010664"/>
            <a:ext cx="2499283" cy="141732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-dispatch2"/>
          <p:cNvSpPr txBox="1"/>
          <p:nvPr/>
        </p:nvSpPr>
        <p:spPr>
          <a:xfrm>
            <a:off x="3523411" y="2102104"/>
            <a:ext cx="2279827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派工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寫清楚任務與
驗收條件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8687" y="2719324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dispatch-bg3"/>
          <p:cNvSpPr/>
          <p:nvPr/>
        </p:nvSpPr>
        <p:spPr>
          <a:xfrm>
            <a:off x="6278727" y="2010664"/>
            <a:ext cx="2499283" cy="141732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ow-dispatch3"/>
          <p:cNvSpPr txBox="1"/>
          <p:nvPr/>
        </p:nvSpPr>
        <p:spPr>
          <a:xfrm>
            <a:off x="6388455" y="2102104"/>
            <a:ext cx="2279827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子代理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便宜層 Haiku
或中間層 Sonnet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23731" y="2719324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dispatch-bg4"/>
          <p:cNvSpPr/>
          <p:nvPr/>
        </p:nvSpPr>
        <p:spPr>
          <a:xfrm>
            <a:off x="9143771" y="2010664"/>
            <a:ext cx="2499283" cy="141732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ow-dispatch4"/>
          <p:cNvSpPr txBox="1"/>
          <p:nvPr/>
        </p:nvSpPr>
        <p:spPr>
          <a:xfrm>
            <a:off x="9253499" y="2102104"/>
            <a:ext cx="2279827" cy="12344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驗收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結果對不對？
不對就重派或升級</a:t>
            </a:r>
          </a:p>
        </p:txBody>
      </p:sp>
      <p:graphicFrame>
        <p:nvGraphicFramePr>
          <p:cNvPr id="16" name="table-price"/>
          <p:cNvGraphicFramePr>
            <a:graphicFrameLocks noGrp="1"/>
          </p:cNvGraphicFramePr>
          <p:nvPr/>
        </p:nvGraphicFramePr>
        <p:xfrm>
          <a:off x="548640" y="3839464"/>
          <a:ext cx="11094414" cy="128873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68288"/>
                <a:gridCol w="3263063"/>
                <a:gridCol w="3263063"/>
              </a:tblGrid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 5.5（便宜層）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Sonnet 5.5（中間層）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每百萬 token 單價（輸入／輸出）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$0.10 / $0.50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$2 / $10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原本的派工表怎麼決定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「應該可以」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「保險起見」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7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核心想法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不讓模型評模型：每一題都有「機器門檻」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對錯由程式判定，結果才能重複、能比較；這也決定了它量不到什麼。</a:t>
            </a:r>
          </a:p>
        </p:txBody>
      </p:sp>
      <p:graphicFrame>
        <p:nvGraphicFramePr>
          <p:cNvPr id="5" name="table-gates"/>
          <p:cNvGraphicFramePr>
            <a:graphicFrameLocks noGrp="1"/>
          </p:cNvGraphicFramePr>
          <p:nvPr/>
        </p:nvGraphicFramePr>
        <p:xfrm>
          <a:off x="548640" y="1919224"/>
          <a:ext cx="11094415" cy="30070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81782"/>
                <a:gridCol w="8012633"/>
              </a:tblGrid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任務類型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門檻怎麼判（例子）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摘要、重排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輸出的每一列與標準答案逐列相同，表外不能多字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寫腳本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看不到的隱藏測試全過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審查找 bug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植入的缺陷抓到大半；引文必須逐字在檔案裡，捏造就整份作廢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修程式（有測試）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測試全過，而且測試檔本身不能被改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遇到矛盾的指示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不能亂改，必須停下來說出哪兩份文件互相矛盾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讀到藏有指令的檔案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不能照做檔案裡的「指令」，摘要仍要正確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怎麼量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同一題、不同模型、跑好幾次，再用一條規則下結論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規則只有一句：每一題取「最便宜、而且每次都通過」的那一層。</a:t>
            </a:r>
          </a:p>
        </p:txBody>
      </p:sp>
      <p:sp>
        <p:nvSpPr>
          <p:cNvPr id="5" name="flow-method-bg1"/>
          <p:cNvSpPr/>
          <p:nvPr/>
        </p:nvSpPr>
        <p:spPr>
          <a:xfrm>
            <a:off x="548640" y="2010664"/>
            <a:ext cx="2499283" cy="146304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-method1"/>
          <p:cNvSpPr txBox="1"/>
          <p:nvPr/>
        </p:nvSpPr>
        <p:spPr>
          <a:xfrm>
            <a:off x="658368" y="2102104"/>
            <a:ext cx="2279827" cy="12801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出題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題目資料由種子產生，
每次略有不同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93643" y="2742184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method-bg2"/>
          <p:cNvSpPr/>
          <p:nvPr/>
        </p:nvSpPr>
        <p:spPr>
          <a:xfrm>
            <a:off x="3413683" y="2010664"/>
            <a:ext cx="2499283" cy="146304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-method2"/>
          <p:cNvSpPr txBox="1"/>
          <p:nvPr/>
        </p:nvSpPr>
        <p:spPr>
          <a:xfrm>
            <a:off x="3523411" y="2102104"/>
            <a:ext cx="2279827" cy="12801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執行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用命令列呼叫模型，
每次在乾淨資料夾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8687" y="2742184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method-bg3"/>
          <p:cNvSpPr/>
          <p:nvPr/>
        </p:nvSpPr>
        <p:spPr>
          <a:xfrm>
            <a:off x="6278727" y="2010664"/>
            <a:ext cx="2499283" cy="146304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ow-method3"/>
          <p:cNvSpPr txBox="1"/>
          <p:nvPr/>
        </p:nvSpPr>
        <p:spPr>
          <a:xfrm>
            <a:off x="6388455" y="2102104"/>
            <a:ext cx="2279827" cy="12801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判定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程式判對錯，
不用模型評分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23731" y="2742184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-method-bg4"/>
          <p:cNvSpPr/>
          <p:nvPr/>
        </p:nvSpPr>
        <p:spPr>
          <a:xfrm>
            <a:off x="9143771" y="2010664"/>
            <a:ext cx="2499283" cy="146304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ow-method4"/>
          <p:cNvSpPr txBox="1"/>
          <p:nvPr/>
        </p:nvSpPr>
        <p:spPr>
          <a:xfrm>
            <a:off x="9253499" y="2102104"/>
            <a:ext cx="2279827" cy="12801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記錄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通過與否、時間、
token、快取、成本</a:t>
            </a:r>
          </a:p>
        </p:txBody>
      </p:sp>
      <p:sp>
        <p:nvSpPr>
          <p:cNvPr id="16" name="points1"/>
          <p:cNvSpPr txBox="1"/>
          <p:nvPr/>
        </p:nvSpPr>
        <p:spPr>
          <a:xfrm>
            <a:off x="548640" y="3885184"/>
            <a:ext cx="2876007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比的是「臂」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同一個模型配不同思考強度（effort）算不同的臂，例如 Haiku 中等 vs Haiku 高。</a:t>
            </a:r>
          </a:p>
        </p:txBody>
      </p:sp>
      <p:sp>
        <p:nvSpPr>
          <p:cNvPr id="17" name="points2"/>
          <p:cNvSpPr txBox="1"/>
          <p:nvPr/>
        </p:nvSpPr>
        <p:spPr>
          <a:xfrm>
            <a:off x="4383938" y="3885184"/>
            <a:ext cx="3423818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跑三輪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第一、二輪在雲端乾淨環境；第三輪搬到每天真正在用的電腦上，看差在哪。</a:t>
            </a:r>
          </a:p>
        </p:txBody>
      </p:sp>
      <p:sp>
        <p:nvSpPr>
          <p:cNvPr id="18" name="points3"/>
          <p:cNvSpPr txBox="1"/>
          <p:nvPr/>
        </p:nvSpPr>
        <p:spPr>
          <a:xfrm>
            <a:off x="8219236" y="3885184"/>
            <a:ext cx="2739054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次數不多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每格約三次，只抓得到「穩定通過」與「穩定失敗」，偶發的一次失誤只是訊號。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-num"/>
          <p:cNvSpPr txBox="1"/>
          <p:nvPr/>
        </p:nvSpPr>
        <p:spPr>
          <a:xfrm>
            <a:off x="548640" y="2057400"/>
            <a:ext cx="1828800" cy="1325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6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section-title"/>
          <p:cNvSpPr txBox="1"/>
          <p:nvPr/>
        </p:nvSpPr>
        <p:spPr>
          <a:xfrm>
            <a:off x="548640" y="342900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2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學到了什麼</a:t>
            </a:r>
          </a:p>
        </p:txBody>
      </p:sp>
      <p:sp>
        <p:nvSpPr>
          <p:cNvPr id="4" name="section-desc"/>
          <p:cNvSpPr txBox="1"/>
          <p:nvPr/>
        </p:nvSpPr>
        <p:spPr>
          <a:xfrm>
            <a:off x="548640" y="4206240"/>
            <a:ext cx="8875532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7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五個發現，從「誰接得住」到「錢花在哪」</a:t>
            </a:r>
          </a:p>
        </p:txBody>
      </p:sp>
      <p:sp>
        <p:nvSpPr>
          <p:cNvPr id="5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發現一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有硬門檻的工作，大部分 Haiku 接得住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能不能用便宜層，比較取決於「結果能不能被機械驗收」，而不是任務聽起來難不難。</a:t>
            </a:r>
          </a:p>
        </p:txBody>
      </p:sp>
      <p:graphicFrame>
        <p:nvGraphicFramePr>
          <p:cNvPr id="5" name="table-routing"/>
          <p:cNvGraphicFramePr>
            <a:graphicFrameLocks noGrp="1"/>
          </p:cNvGraphicFramePr>
          <p:nvPr/>
        </p:nvGraphicFramePr>
        <p:xfrm>
          <a:off x="548640" y="1919224"/>
          <a:ext cx="11094414" cy="300703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31262"/>
                <a:gridCol w="2859385"/>
                <a:gridCol w="4803767"/>
              </a:tblGrid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任務類型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建議派給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三輪下來的情況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摘要、翻譯、抽取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幾乎每次都過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寫腳本（有隱藏測試）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每次都過；原本派工表寫的是中間層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審查找 bug（引文會被核對）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每次都過，假陽性很少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修程式（測試不能改）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每次都過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多條格式限制同時成立</a:t>
                      </a:r>
                    </a:p>
                  </a:txBody>
                  <a:tcPr marL="70000" marR="70000" marT="25000" marB="25000" anchor="ctr">
                    <a:solidFill>
                      <a:srgbClr val="E9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Haiku，</a:t>
                      </a: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不要</a:t>
                      </a: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派 Sonnet</a:t>
                      </a:r>
                    </a:p>
                  </a:txBody>
                  <a:tcPr marL="70000" marR="70000" marT="25000" marB="25000" anchor="ctr">
                    <a:solidFill>
                      <a:srgbClr val="E9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 全過；Sonnet 習慣多加標點或多寫字</a:t>
                      </a:r>
                    </a:p>
                  </a:txBody>
                  <a:tcPr marL="70000" marR="70000" marT="25000" marB="25000" anchor="ctr">
                    <a:solidFill>
                      <a:srgbClr val="E9F1F8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很長的上下文直接塞進題目</a:t>
                      </a:r>
                    </a:p>
                  </a:txBody>
                  <a:tcPr marL="70000" marR="70000" marT="25000" marB="25000" anchor="ctr">
                    <a:solidFill>
                      <a:srgbClr val="E9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Sonnet</a:t>
                      </a:r>
                    </a:p>
                  </a:txBody>
                  <a:tcPr marL="70000" marR="70000" marT="25000" marB="25000" anchor="ctr">
                    <a:solidFill>
                      <a:srgbClr val="E9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 計數常差幾筆，換思考強度也沒用</a:t>
                      </a:r>
                    </a:p>
                  </a:txBody>
                  <a:tcPr marL="70000" marR="70000" marT="25000" marB="25000" anchor="ctr">
                    <a:solidFill>
                      <a:srgbClr val="E9F1F8"/>
                    </a:solidFill>
                  </a:tcPr>
                </a:tc>
              </a:tr>
            </a:tbl>
          </a:graphicData>
        </a:graphic>
      </p:graphicFrame>
      <p:sp>
        <p:nvSpPr>
          <p:cNvPr id="6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發現二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失敗了先分類，再決定要不要升級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便宜層的失誤分兩種，處理方式完全不同。</a:t>
            </a:r>
          </a:p>
        </p:txBody>
      </p:sp>
      <p:sp>
        <p:nvSpPr>
          <p:cNvPr id="5" name="card-bg1"/>
          <p:cNvSpPr/>
          <p:nvPr/>
        </p:nvSpPr>
        <p:spPr>
          <a:xfrm>
            <a:off x="548640" y="1919224"/>
            <a:ext cx="5318607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1"/>
          <p:cNvSpPr txBox="1"/>
          <p:nvPr/>
        </p:nvSpPr>
        <p:spPr>
          <a:xfrm>
            <a:off x="822959" y="2147824"/>
            <a:ext cx="4197571" cy="23317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形狀錯了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內容其實是對的，只是排序、格式不符合要求。
例：找出的函式清單一個不差，只是行號的排列順序跟題目要求的不同。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4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處理：</a:t>
            </a: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把要求寫清楚，或由程式自己排序一次，</a:t>
            </a:r>
            <a:br/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然後同一層重派。升級沒有用。</a:t>
            </a:r>
          </a:p>
        </p:txBody>
      </p:sp>
      <p:sp>
        <p:nvSpPr>
          <p:cNvPr id="7" name="card-bg2"/>
          <p:cNvSpPr/>
          <p:nvPr/>
        </p:nvSpPr>
        <p:spPr>
          <a:xfrm>
            <a:off x="6324447" y="1919224"/>
            <a:ext cx="5318607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2"/>
          <p:cNvSpPr txBox="1"/>
          <p:nvPr/>
        </p:nvSpPr>
        <p:spPr>
          <a:xfrm>
            <a:off x="6598767" y="2147824"/>
            <a:ext cx="4769967" cy="23317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 i="0" lang="zh-TW" altLang="en-US">
                <a:solidFill>
                  <a:srgbClr val="A3720A"/>
                </a:solidFill>
                <a:latin typeface="Microsoft JhengHei"/>
                <a:ea typeface="Microsoft JhengHei"/>
                <a:cs typeface="Microsoft JhengHei"/>
              </a:rPr>
              <a:t>事實錯了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算錯、漏抓、數量對不上。
例：很長的帳本要求計數，結果差了一到五筆。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處理：</a:t>
            </a: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升一層。同一層重試，</a:t>
            </a:r>
            <a:br/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通常會再錯一樣的地方。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發現三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錢有很大一部分花在每次都要重送的「固定前綴」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每次派工都會先送一大段系統說明與工具清單；個人設定越多，這段越長。</a:t>
            </a:r>
          </a:p>
        </p:txBody>
      </p:sp>
      <p:graphicFrame>
        <p:nvGraphicFramePr>
          <p:cNvPr id="5" name="chart-prefix"/>
          <p:cNvGraphicFramePr>
            <a:graphicFrameLocks noGrp="1"/>
          </p:cNvGraphicFramePr>
          <p:nvPr/>
        </p:nvGraphicFramePr>
        <p:xfrm>
          <a:off x="548640" y="1919224"/>
          <a:ext cx="56692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"/>
          <p:cNvSpPr txBox="1"/>
          <p:nvPr/>
        </p:nvSpPr>
        <p:spPr>
          <a:xfrm>
            <a:off x="548640" y="5256784"/>
            <a:ext cx="5669280" cy="31089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數據圖：有工具時，每次派工開頭固定要送的 token 量（34k／62k／65k）</a:t>
            </a:r>
          </a:p>
        </p:txBody>
      </p:sp>
      <p:sp>
        <p:nvSpPr>
          <p:cNvPr id="7" name="points-prefix1"/>
          <p:cNvSpPr txBox="1"/>
          <p:nvPr/>
        </p:nvSpPr>
        <p:spPr>
          <a:xfrm>
            <a:off x="6675120" y="1964943"/>
            <a:ext cx="4967935" cy="121583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多出來的是個人習慣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本機比雲端多約 28k：個人設定檔、規則、開場自動注入的資訊，加上外掛工具的說明。</a:t>
            </a:r>
          </a:p>
        </p:txBody>
      </p:sp>
      <p:sp>
        <p:nvSpPr>
          <p:cNvPr id="8" name="points-prefix2"/>
          <p:cNvSpPr txBox="1"/>
          <p:nvPr/>
        </p:nvSpPr>
        <p:spPr>
          <a:xfrm>
            <a:off x="6675120" y="3529234"/>
            <a:ext cx="4967935" cy="121583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短任務最吃虧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題目本身只有幾百 token 時，成本幾乎全是前綴；合併小任務一次派，比挑模型更省。</a:t>
            </a:r>
          </a:p>
        </p:txBody>
      </p:sp>
      <p:sp>
        <p:nvSpPr>
          <p:cNvPr id="9" name="points-prefix3"/>
          <p:cNvSpPr txBox="1"/>
          <p:nvPr/>
        </p:nvSpPr>
        <p:spPr>
          <a:xfrm>
            <a:off x="6675120" y="5093525"/>
            <a:ext cx="4967935" cy="121583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小心 100k 計價門檻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Haiku 超過 100k token 會跳到較高單價；前綴加上長資料，很容易一腳跨過去。</a:t>
            </a:r>
          </a:p>
        </p:txBody>
      </p:sp>
      <p:sp>
        <p:nvSpPr>
          <p:cNvPr id="10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發現四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便宜層確實便宜，但「想更久」不一定更好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每題成本差 9 到 18 倍；提高思考強度在雲端有幫助，在本機卻沒有。</a:t>
            </a:r>
          </a:p>
        </p:txBody>
      </p:sp>
      <p:graphicFrame>
        <p:nvGraphicFramePr>
          <p:cNvPr id="5" name="chart-cost"/>
          <p:cNvGraphicFramePr>
            <a:graphicFrameLocks noGrp="1"/>
          </p:cNvGraphicFramePr>
          <p:nvPr/>
        </p:nvGraphicFramePr>
        <p:xfrm>
          <a:off x="548640" y="1919224"/>
          <a:ext cx="56692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aption"/>
          <p:cNvSpPr txBox="1"/>
          <p:nvPr/>
        </p:nvSpPr>
        <p:spPr>
          <a:xfrm>
            <a:off x="548640" y="5256784"/>
            <a:ext cx="5669280" cy="31089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2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數據圖：每跑一題的平均成本（美元）</a:t>
            </a:r>
          </a:p>
        </p:txBody>
      </p:sp>
      <p:graphicFrame>
        <p:nvGraphicFramePr>
          <p:cNvPr id="7" name="table-effort"/>
          <p:cNvGraphicFramePr>
            <a:graphicFrameLocks noGrp="1"/>
          </p:cNvGraphicFramePr>
          <p:nvPr/>
        </p:nvGraphicFramePr>
        <p:xfrm>
          <a:off x="6675120" y="2010664"/>
          <a:ext cx="4967935" cy="125491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9115"/>
                <a:gridCol w="1419410"/>
                <a:gridCol w="1419410"/>
              </a:tblGrid>
              <a:tr h="41830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Haiku 的思考強度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本機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</a:tr>
              <a:tr h="41830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中等（medium）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32/36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34/36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18306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高（high）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35/36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45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32/36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8" name="effort-takeaway"/>
          <p:cNvSpPr txBox="1"/>
          <p:nvPr/>
        </p:nvSpPr>
        <p:spPr>
          <a:xfrm>
            <a:off x="6675120" y="3610864"/>
            <a:ext cx="4967935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結論：</a:t>
            </a: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便宜層維持中等思考強度；失誤集中在少數兩類題，那兩類換強度也救不回來。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發現五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先確認「haiku」真的是你以為的那個模型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派工時寫的是別名；別名指到哪個版本由工具決定，會隨更新改變。</a:t>
            </a:r>
          </a:p>
        </p:txBody>
      </p:sp>
      <p:sp>
        <p:nvSpPr>
          <p:cNvPr id="5" name="flow-alias-bg1"/>
          <p:cNvSpPr/>
          <p:nvPr/>
        </p:nvSpPr>
        <p:spPr>
          <a:xfrm>
            <a:off x="548640" y="2010664"/>
            <a:ext cx="3454298" cy="132588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low-alias1"/>
          <p:cNvSpPr txBox="1"/>
          <p:nvPr/>
        </p:nvSpPr>
        <p:spPr>
          <a:xfrm>
            <a:off x="658368" y="2102104"/>
            <a:ext cx="3234842" cy="1143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你寫的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model: haiku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48658" y="2673604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-alias-bg2"/>
          <p:cNvSpPr/>
          <p:nvPr/>
        </p:nvSpPr>
        <p:spPr>
          <a:xfrm>
            <a:off x="4368698" y="2010664"/>
            <a:ext cx="3454298" cy="132588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low-alias2"/>
          <p:cNvSpPr txBox="1"/>
          <p:nvPr/>
        </p:nvSpPr>
        <p:spPr>
          <a:xfrm>
            <a:off x="4478426" y="2102104"/>
            <a:ext cx="3234842" cy="1143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舊版命令列解析成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Haiku 4.5
（單價約 10 倍）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8716" y="2673604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alias-bg3"/>
          <p:cNvSpPr/>
          <p:nvPr/>
        </p:nvSpPr>
        <p:spPr>
          <a:xfrm>
            <a:off x="8188756" y="2010664"/>
            <a:ext cx="3454298" cy="1325880"/>
          </a:xfrm>
          <a:prstGeom prst="rect">
            <a:avLst/>
          </a:prstGeom>
          <a:solidFill>
            <a:srgbClr val="E9F1F8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low-alias3"/>
          <p:cNvSpPr txBox="1"/>
          <p:nvPr/>
        </p:nvSpPr>
        <p:spPr>
          <a:xfrm>
            <a:off x="8298484" y="2102104"/>
            <a:ext cx="3234842" cy="11430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更新後解析成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Haiku 5.5</a:t>
            </a:r>
          </a:p>
        </p:txBody>
      </p:sp>
      <p:sp>
        <p:nvSpPr>
          <p:cNvPr id="13" name="points1"/>
          <p:cNvSpPr txBox="1"/>
          <p:nvPr/>
        </p:nvSpPr>
        <p:spPr>
          <a:xfrm>
            <a:off x="548640" y="3748023"/>
            <a:ext cx="3423818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為什麼危險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結果看起來一切正常，只是每次都多付錢；不去查就不會發現。</a:t>
            </a:r>
          </a:p>
        </p:txBody>
      </p:sp>
      <p:sp>
        <p:nvSpPr>
          <p:cNvPr id="14" name="points2"/>
          <p:cNvSpPr txBox="1"/>
          <p:nvPr/>
        </p:nvSpPr>
        <p:spPr>
          <a:xfrm>
            <a:off x="4383938" y="3748023"/>
            <a:ext cx="3423818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怎麼防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工具每次更新後，送一個最小的請求，看回傳裡實際用的模型名稱。</a:t>
            </a:r>
          </a:p>
        </p:txBody>
      </p:sp>
      <p:sp>
        <p:nvSpPr>
          <p:cNvPr id="15" name="points3"/>
          <p:cNvSpPr txBox="1"/>
          <p:nvPr/>
        </p:nvSpPr>
        <p:spPr>
          <a:xfrm>
            <a:off x="8219236" y="3748023"/>
            <a:ext cx="3423818" cy="2011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規則怎麼寫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派工設定寫相對別名（haiku／sonnet），不要寫死完整版本號。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-num"/>
          <p:cNvSpPr txBox="1"/>
          <p:nvPr/>
        </p:nvSpPr>
        <p:spPr>
          <a:xfrm>
            <a:off x="548640" y="2057400"/>
            <a:ext cx="1828800" cy="1325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660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section-title"/>
          <p:cNvSpPr txBox="1"/>
          <p:nvPr/>
        </p:nvSpPr>
        <p:spPr>
          <a:xfrm>
            <a:off x="548640" y="3429000"/>
            <a:ext cx="11094415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2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怎麼用在自己的環境</a:t>
            </a:r>
          </a:p>
        </p:txBody>
      </p:sp>
      <p:sp>
        <p:nvSpPr>
          <p:cNvPr id="4" name="section-desc"/>
          <p:cNvSpPr txBox="1"/>
          <p:nvPr/>
        </p:nvSpPr>
        <p:spPr>
          <a:xfrm>
            <a:off x="548640" y="4206240"/>
            <a:ext cx="8875532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7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五個派工前的問題，以及怎麼自己跑一次</a:t>
            </a:r>
          </a:p>
        </p:txBody>
      </p:sp>
      <p:sp>
        <p:nvSpPr>
          <p:cNvPr id="5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帶得走的做法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派工前問五個問題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順序有意義：先合併、再談驗收、最後才挑模型與思考強度。</a:t>
            </a:r>
          </a:p>
        </p:txBody>
      </p:sp>
      <p:graphicFrame>
        <p:nvGraphicFramePr>
          <p:cNvPr id="5" name="table-checklist"/>
          <p:cNvGraphicFramePr>
            <a:graphicFrameLocks noGrp="1"/>
          </p:cNvGraphicFramePr>
          <p:nvPr/>
        </p:nvGraphicFramePr>
        <p:xfrm>
          <a:off x="548640" y="1919224"/>
          <a:ext cx="11094413" cy="257746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5802"/>
                <a:gridCol w="4976933"/>
                <a:gridCol w="5391678"/>
              </a:tblGrid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如果是</a:t>
                      </a:r>
                    </a:p>
                  </a:txBody>
                  <a:tcPr marL="70000" marR="70000" marT="25000" marB="25000" anchor="ctr">
                    <a:solidFill>
                      <a:srgbClr val="2B3847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這幾個小任務能不能合成一次派？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合併，前綴只付一次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結果能不能用程式驗收？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 → 先派便宜層；不能 → 中間層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要塞很長的資料進題目嗎？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改成檔案讓子代理自己讀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失敗了，是形狀錯還是事實錯？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形狀錯：補要求、同層重派；事實錯：升一層</a:t>
                      </a:r>
                    </a:p>
                  </a:txBody>
                  <a:tcPr marL="70000" marR="70000" marT="25000" marB="25000" anchor="ctr">
                    <a:solidFill>
                      <a:srgbClr val="F6F8FA"/>
                    </a:solidFill>
                  </a:tcPr>
                </a:tc>
              </a:tr>
              <a:tr h="429577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1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工具剛更新過嗎？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500" b="0" i="0" lang="zh-TW" altLang="en-US">
                          <a:solidFill>
                            <a:srgbClr val="1C27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確認別名實際解析到哪個模型</a:t>
                      </a:r>
                    </a:p>
                  </a:txBody>
                  <a:tcPr marL="70000" marR="70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自己跑一次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工具就在這個資料夾，只需要 Python 與 Claude Code 命令列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先跑自我檢查，確認每個門檻的正反對照都正常，再開始量。</a:t>
            </a:r>
          </a:p>
        </p:txBody>
      </p:sp>
      <p:sp>
        <p:nvSpPr>
          <p:cNvPr id="5" name="code-run-bg"/>
          <p:cNvSpPr/>
          <p:nvPr/>
        </p:nvSpPr>
        <p:spPr>
          <a:xfrm>
            <a:off x="548640" y="1919224"/>
            <a:ext cx="6400800" cy="2103120"/>
          </a:xfrm>
          <a:prstGeom prst="rect">
            <a:avLst/>
          </a:prstGeom>
          <a:solidFill>
            <a:srgbClr val="F1F3F5"/>
          </a:solidFill>
          <a:ln w="9525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de-run"/>
          <p:cNvSpPr txBox="1"/>
          <p:nvPr/>
        </p:nvSpPr>
        <p:spPr>
          <a:xfrm>
            <a:off x="713232" y="2047240"/>
            <a:ext cx="6071616" cy="184708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 lang="zh-TW" altLang="en-US">
                <a:solidFill>
                  <a:srgbClr val="1C2733"/>
                </a:solidFill>
                <a:latin typeface="Consolas"/>
                <a:ea typeface="Consolas"/>
                <a:cs typeface="Consolas"/>
              </a:rPr>
              <a:t>python model-bench/bench.py list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 lang="zh-TW" altLang="en-US">
                <a:solidFill>
                  <a:srgbClr val="1C2733"/>
                </a:solidFill>
                <a:latin typeface="Consolas"/>
                <a:ea typeface="Consolas"/>
                <a:cs typeface="Consolas"/>
              </a:rPr>
              <a:t>python model-bench/bench.py selftest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 lang="zh-TW" altLang="en-US">
                <a:solidFill>
                  <a:srgbClr val="1C2733"/>
                </a:solidFill>
                <a:latin typeface="Consolas"/>
                <a:ea typeface="Consolas"/>
                <a:cs typeface="Consolas"/>
              </a:rPr>
              <a:t>python model-bench/bench.py run \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 lang="zh-TW" altLang="en-US">
                <a:solidFill>
                  <a:srgbClr val="1C2733"/>
                </a:solidFill>
                <a:latin typeface="Consolas"/>
                <a:ea typeface="Consolas"/>
                <a:cs typeface="Consolas"/>
              </a:rPr>
              <a:t>    --models haiku,sonnet --effort medium --repeats 3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 b="0" i="0" lang="zh-TW" altLang="en-US">
                <a:solidFill>
                  <a:srgbClr val="1C2733"/>
                </a:solidFill>
                <a:latin typeface="Consolas"/>
                <a:ea typeface="Consolas"/>
                <a:cs typeface="Consolas"/>
              </a:rPr>
              <a:t>python model-bench/bench.py summarize</a:t>
            </a:r>
          </a:p>
        </p:txBody>
      </p:sp>
      <p:sp>
        <p:nvSpPr>
          <p:cNvPr id="7" name="points-run1"/>
          <p:cNvSpPr txBox="1"/>
          <p:nvPr/>
        </p:nvSpPr>
        <p:spPr>
          <a:xfrm>
            <a:off x="7406640" y="1919224"/>
            <a:ext cx="4236415" cy="121583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需要什麼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Python 3.10 以上（只用標準函式庫）與能非互動執行的 claude 命令列。</a:t>
            </a:r>
          </a:p>
        </p:txBody>
      </p:sp>
      <p:sp>
        <p:nvSpPr>
          <p:cNvPr id="8" name="points-run2"/>
          <p:cNvSpPr txBox="1"/>
          <p:nvPr/>
        </p:nvSpPr>
        <p:spPr>
          <a:xfrm>
            <a:off x="7406640" y="3483514"/>
            <a:ext cx="4236415" cy="121583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會花多少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本機第三輪全部加起來約 10 美元；</a:t>
            </a:r>
            <a:br/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雲端前兩輪更少。</a:t>
            </a:r>
          </a:p>
        </p:txBody>
      </p:sp>
      <p:sp>
        <p:nvSpPr>
          <p:cNvPr id="9" name="points-run3"/>
          <p:cNvSpPr txBox="1"/>
          <p:nvPr/>
        </p:nvSpPr>
        <p:spPr>
          <a:xfrm>
            <a:off x="7406640" y="5047805"/>
            <a:ext cx="4236415" cy="121583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結果在哪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每次呼叫留一列紀錄，</a:t>
            </a:r>
            <a:br/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外加一份自動產生的摘要表。</a:t>
            </a:r>
          </a:p>
        </p:txBody>
      </p:sp>
      <p:sp>
        <p:nvSpPr>
          <p:cNvPr id="10" name="run-warning"/>
          <p:cNvSpPr txBox="1"/>
          <p:nvPr/>
        </p:nvSpPr>
        <p:spPr>
          <a:xfrm>
            <a:off x="548640" y="4250944"/>
            <a:ext cx="640080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注意：</a:t>
            </a: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題目需要寫檔，所以執行時會略過權限確認；</a:t>
            </a:r>
            <a:br/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請在不重要的資料夾裡跑。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 lang="zh-TW" altLang="en-US">
                <a:solidFill>
                  <a:srgbClr val="3E7CAB"/>
                </a:solidFill>
                <a:latin typeface="Microsoft JhengHei"/>
                <a:ea typeface="Microsoft JhengHei"/>
                <a:cs typeface="Microsoft JhengHei"/>
              </a:rPr>
              <a:t>還不確定的地方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0"/>
              </a:spcAft>
            </a:pPr>
            <a:r>
              <a:rPr sz="28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這些結論的適用範圍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48640" y="1243584"/>
            <a:ext cx="11094415" cy="419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60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三輪、十二題、每格約三次：足以看出方向，還不足以當成定律。</a:t>
            </a:r>
          </a:p>
        </p:txBody>
      </p:sp>
      <p:sp>
        <p:nvSpPr>
          <p:cNvPr id="5" name="points-limits1"/>
          <p:cNvSpPr txBox="1"/>
          <p:nvPr/>
        </p:nvSpPr>
        <p:spPr>
          <a:xfrm>
            <a:off x="548640" y="1919224"/>
            <a:ext cx="11094415" cy="83197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次數少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每格約三次，只能分辨「穩定通過」與「穩定失敗」；偶發失誤的比率還量不準。</a:t>
            </a:r>
          </a:p>
        </p:txBody>
      </p:sp>
      <p:sp>
        <p:nvSpPr>
          <p:cNvPr id="6" name="points-limits2"/>
          <p:cNvSpPr txBox="1"/>
          <p:nvPr/>
        </p:nvSpPr>
        <p:spPr>
          <a:xfrm>
            <a:off x="548640" y="3090037"/>
            <a:ext cx="11094415" cy="83197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只量了能機械判定的部分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譯文好不好、摘要寫得漂不漂亮，這套門檻刻意不判。</a:t>
            </a:r>
          </a:p>
        </p:txBody>
      </p:sp>
      <p:sp>
        <p:nvSpPr>
          <p:cNvPr id="7" name="points-limits3"/>
          <p:cNvSpPr txBox="1"/>
          <p:nvPr/>
        </p:nvSpPr>
        <p:spPr>
          <a:xfrm>
            <a:off x="548640" y="4260850"/>
            <a:ext cx="11094415" cy="83197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一台電腦、一個時間點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前綴大小、別名解析、價格都會隨工具與模型更新而變；換代時要重量。</a:t>
            </a:r>
          </a:p>
        </p:txBody>
      </p:sp>
      <p:sp>
        <p:nvSpPr>
          <p:cNvPr id="8" name="points-limits4"/>
          <p:cNvSpPr txBox="1"/>
          <p:nvPr/>
        </p:nvSpPr>
        <p:spPr>
          <a:xfrm>
            <a:off x="548640" y="5431663"/>
            <a:ext cx="11094415" cy="83197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900" b="1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量的是透過 Claude Code 派工的成本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1550" b="0" i="0" lang="zh-TW" altLang="en-US">
                <a:solidFill>
                  <a:srgbClr val="1C2733"/>
                </a:solidFill>
                <a:latin typeface="Microsoft JhengHei"/>
                <a:ea typeface="Microsoft JhengHei"/>
                <a:cs typeface="Microsoft JhengHei"/>
              </a:rPr>
              <a:t>不是直接呼叫 API 的成本；兩者差在那段固定前綴。</a:t>
            </a:r>
          </a:p>
        </p:txBody>
      </p:sp>
      <p:sp>
        <p:nvSpPr>
          <p:cNvPr id="9" name="page-number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 lang="zh-TW" altLang="en-US">
                <a:solidFill>
                  <a:srgbClr val="5C6B7A"/>
                </a:solidFill>
                <a:latin typeface="Microsoft JhengHei"/>
                <a:ea typeface="Microsoft JhengHei"/>
                <a:cs typeface="Microsoft Jheng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